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086100"/>
          </a:xfrm>
          <a:prstGeom prst="rect">
            <a:avLst/>
          </a:prstGeom>
          <a:solidFill>
            <a:srgbClr val="0F1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86100"/>
            <a:ext cx="12191695" cy="2743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29300"/>
            <a:ext cx="12191695" cy="10287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14255" y="-914400"/>
            <a:ext cx="6583680" cy="6583680"/>
          </a:xfrm>
          <a:prstGeom prst="ellipse">
            <a:avLst/>
          </a:prstGeom>
          <a:noFill/>
          <a:ln w="15875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28655" y="-914400"/>
            <a:ext cx="4754880" cy="4754880"/>
          </a:xfrm>
          <a:prstGeom prst="ellipse">
            <a:avLst/>
          </a:prstGeom>
          <a:noFill/>
          <a:ln w="15875">
            <a:solidFill>
              <a:srgbClr val="2C4B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43055" y="-914400"/>
            <a:ext cx="2926080" cy="2926080"/>
          </a:xfrm>
          <a:prstGeom prst="ellipse">
            <a:avLst/>
          </a:prstGeom>
          <a:noFill/>
          <a:ln w="15875">
            <a:solidFill>
              <a:srgbClr val="3B5D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822960"/>
            <a:ext cx="77724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/>
              <a:t>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868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A5E9"/>
                </a:solidFill>
                <a:latin typeface="Segoe UI"/>
              </a:rPr>
              <a:t>GAZE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207008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Signage 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5176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Segoe UI"/>
              </a:rPr>
              <a:t>See who's watching.</a:t>
            </a:r>
          </a:p>
          <a:p>
            <a:pPr algn="l"/>
            <a:r>
              <a:rPr sz="5400" b="1">
                <a:solidFill>
                  <a:srgbClr val="FFFFFF"/>
                </a:solidFill>
                <a:latin typeface="Segoe UI"/>
              </a:rPr>
              <a:t>Prove nothing else.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0F2FE"/>
                </a:solidFill>
                <a:latin typeface="Segoe UI"/>
              </a:rPr>
              <a:t>Privacy-preserving signage analytics on Intel CPU / iGPU.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852160"/>
            <a:ext cx="2194560" cy="38404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HACK THE STACK ·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5852160"/>
            <a:ext cx="237744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C3F"/>
                </a:solidFill>
                <a:latin typeface="Segoe UI"/>
              </a:rPr>
              <a:t>PRIVACY BY DESIGN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07040" y="365760"/>
            <a:ext cx="1051560" cy="329184"/>
          </a:xfrm>
          <a:prstGeom prst="roundRect">
            <a:avLst/>
          </a:prstGeom>
          <a:solidFill>
            <a:srgbClr val="0F1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02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60196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Segoe UI"/>
              </a:rPr>
              <a:t>GAZE ANALYTICS  ·  Privacy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601968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2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Segoe UI"/>
              </a:rPr>
              <a:t>Signage is blind.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Segoe UI"/>
              </a:rPr>
              <a:t>Operators buy screens. They can't prove anyone watched.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11091672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09728" cy="41605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24942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10312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No measurement.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48716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Even Nielsen-style panels are proxies.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343814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329184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Cloud CV is a liability.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7588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Face recognition, ReID, embeddings — GDPR · DPDP · BIPA.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462686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48056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Edge boxes are opaque.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86460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$1k+ vendor lock-in. No audit path.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Signage market $30B+ · &lt;5% instrumented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07040" y="365760"/>
            <a:ext cx="1051560" cy="329184"/>
          </a:xfrm>
          <a:prstGeom prst="roundRect">
            <a:avLst/>
          </a:prstGeom>
          <a:solidFill>
            <a:srgbClr val="0F1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03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60196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Segoe UI"/>
              </a:rPr>
              <a:t>GAZE ANALYTICS  ·  Privacy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601968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3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Segoe UI"/>
              </a:rPr>
              <a:t>One idea: aggregates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Segoe UI"/>
              </a:rPr>
              <a:t>Watch the room. Never remember a face.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11091672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09728" cy="41605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24942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10312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100 % on-device.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48716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Intel CPU + Iris Xe via OpenVINO. Zero cloud. Zero telemetry.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343814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329184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Frames die at 30 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7588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No imwrite, no video writer — enforced by a CI grep.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462686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48056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Only counters persist.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86460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SQLite: numbers, ratios, 160×90 thumbnails. No identities. Ever.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Privacy contract lives in a test that fails the build.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07040" y="365760"/>
            <a:ext cx="1051560" cy="329184"/>
          </a:xfrm>
          <a:prstGeom prst="roundRect">
            <a:avLst/>
          </a:prstGeom>
          <a:solidFill>
            <a:srgbClr val="0F1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04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60196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Segoe UI"/>
              </a:rPr>
              <a:t>GAZE ANALYTICS  ·  Privacy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601968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4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Segoe UI"/>
              </a:rPr>
              <a:t>How it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Segoe UI"/>
              </a:rPr>
              <a:t>Six stages · all on the laptop.</a:t>
            </a:r>
          </a:p>
        </p:txBody>
      </p:sp>
      <p:sp>
        <p:nvSpPr>
          <p:cNvPr id="10" name="Oval 9"/>
          <p:cNvSpPr/>
          <p:nvPr/>
        </p:nvSpPr>
        <p:spPr>
          <a:xfrm>
            <a:off x="947394" y="3040380"/>
            <a:ext cx="1051560" cy="105156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2910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Segoe UI"/>
              </a:rPr>
              <a:t>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4058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Segoe UI"/>
              </a:rPr>
              <a:t>720p webcam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28900"/>
            <a:ext cx="18490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Segoe UI"/>
              </a:rPr>
              <a:t>STAGE 01</a:t>
            </a:r>
          </a:p>
        </p:txBody>
      </p:sp>
      <p:sp>
        <p:nvSpPr>
          <p:cNvPr id="14" name="Oval 13"/>
          <p:cNvSpPr/>
          <p:nvPr/>
        </p:nvSpPr>
        <p:spPr>
          <a:xfrm>
            <a:off x="2796463" y="3040380"/>
            <a:ext cx="1051560" cy="105156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7709" y="422910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Segoe UI"/>
              </a:rPr>
              <a:t>Detect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7709" y="464058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Segoe UI"/>
              </a:rPr>
              <a:t>OMZ INT8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7709" y="2628900"/>
            <a:ext cx="18490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Segoe UI"/>
              </a:rPr>
              <a:t>STAGE 02</a:t>
            </a:r>
          </a:p>
        </p:txBody>
      </p:sp>
      <p:sp>
        <p:nvSpPr>
          <p:cNvPr id="18" name="Oval 17"/>
          <p:cNvSpPr/>
          <p:nvPr/>
        </p:nvSpPr>
        <p:spPr>
          <a:xfrm>
            <a:off x="4645532" y="3040380"/>
            <a:ext cx="1051560" cy="105156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422910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Segoe UI"/>
              </a:rPr>
              <a:t>Track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46778" y="464058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Segoe UI"/>
              </a:rPr>
              <a:t>Kalman + IoU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628900"/>
            <a:ext cx="18490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Segoe UI"/>
              </a:rPr>
              <a:t>STAGE 03</a:t>
            </a:r>
          </a:p>
        </p:txBody>
      </p:sp>
      <p:sp>
        <p:nvSpPr>
          <p:cNvPr id="22" name="Oval 21"/>
          <p:cNvSpPr/>
          <p:nvPr/>
        </p:nvSpPr>
        <p:spPr>
          <a:xfrm>
            <a:off x="6494602" y="3040380"/>
            <a:ext cx="1051560" cy="105156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22910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Segoe UI"/>
              </a:rPr>
              <a:t>Gaze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7" y="464058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Segoe UI"/>
              </a:rPr>
              <a:t>Head + eye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2628900"/>
            <a:ext cx="18490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Segoe UI"/>
              </a:rPr>
              <a:t>STAGE 04</a:t>
            </a:r>
          </a:p>
        </p:txBody>
      </p:sp>
      <p:sp>
        <p:nvSpPr>
          <p:cNvPr id="26" name="Oval 25"/>
          <p:cNvSpPr/>
          <p:nvPr/>
        </p:nvSpPr>
        <p:spPr>
          <a:xfrm>
            <a:off x="8343671" y="3040380"/>
            <a:ext cx="1051560" cy="105156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4916" y="422910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Segoe UI"/>
              </a:rPr>
              <a:t>Aggregate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4916" y="464058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Segoe UI"/>
              </a:rPr>
              <a:t>5 s windows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4916" y="2628900"/>
            <a:ext cx="18490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Segoe UI"/>
              </a:rPr>
              <a:t>STAGE 05</a:t>
            </a:r>
          </a:p>
        </p:txBody>
      </p:sp>
      <p:sp>
        <p:nvSpPr>
          <p:cNvPr id="30" name="Oval 29"/>
          <p:cNvSpPr/>
          <p:nvPr/>
        </p:nvSpPr>
        <p:spPr>
          <a:xfrm>
            <a:off x="10192740" y="3040380"/>
            <a:ext cx="1051560" cy="105156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3985" y="422910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Segoe UI"/>
              </a:rPr>
              <a:t>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93985" y="4640580"/>
            <a:ext cx="18490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Segoe UI"/>
              </a:rPr>
              <a:t>Streamlit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985" y="2628900"/>
            <a:ext cx="18490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Segoe UI"/>
              </a:rPr>
              <a:t>STAGE 06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072106.5833333335" y="3566160"/>
            <a:ext cx="651205.166666667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ight Triangle 34"/>
          <p:cNvSpPr/>
          <p:nvPr/>
        </p:nvSpPr>
        <p:spPr>
          <a:xfrm rot="1800000">
            <a:off x="2677591" y="3493008"/>
            <a:ext cx="109728" cy="146304"/>
          </a:xfrm>
          <a:prstGeom prst="rtTriangl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921175.7500000005" y="3566160"/>
            <a:ext cx="651205.1666666665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ight Triangle 36"/>
          <p:cNvSpPr/>
          <p:nvPr/>
        </p:nvSpPr>
        <p:spPr>
          <a:xfrm rot="1800000">
            <a:off x="4526660" y="3493008"/>
            <a:ext cx="109728" cy="146304"/>
          </a:xfrm>
          <a:prstGeom prst="rtTriangl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770244.916666667" y="3566160"/>
            <a:ext cx="651205.166666666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ight Triangle 38"/>
          <p:cNvSpPr/>
          <p:nvPr/>
        </p:nvSpPr>
        <p:spPr>
          <a:xfrm rot="1800000">
            <a:off x="6375730" y="3493008"/>
            <a:ext cx="109728" cy="146304"/>
          </a:xfrm>
          <a:prstGeom prst="rtTriangl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619314.083333333" y="3566160"/>
            <a:ext cx="651205.166666667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ight Triangle 40"/>
          <p:cNvSpPr/>
          <p:nvPr/>
        </p:nvSpPr>
        <p:spPr>
          <a:xfrm rot="1800000">
            <a:off x="8224799" y="3493008"/>
            <a:ext cx="109728" cy="146304"/>
          </a:xfrm>
          <a:prstGeom prst="rtTriangl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9468383.25" y="3566160"/>
            <a:ext cx="651205.1666666679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ight Triangle 42"/>
          <p:cNvSpPr/>
          <p:nvPr/>
        </p:nvSpPr>
        <p:spPr>
          <a:xfrm rot="1800000">
            <a:off x="10073868" y="3493008"/>
            <a:ext cx="109728" cy="146304"/>
          </a:xfrm>
          <a:prstGeom prst="rtTriangl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OpenVINO · 5 OMZ models · ~50 MB total.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07040" y="365760"/>
            <a:ext cx="1051560" cy="329184"/>
          </a:xfrm>
          <a:prstGeom prst="roundRect">
            <a:avLst/>
          </a:prstGeom>
          <a:solidFill>
            <a:srgbClr val="0F1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05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60196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Segoe UI"/>
              </a:rPr>
              <a:t>GAZE ANALYTICS  ·  Privacy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601968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5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Segoe UI"/>
              </a:rPr>
              <a:t>Two dashboards. One process.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Segoe UI"/>
              </a:rPr>
              <a:t>Run the pipeline. Read the trends. Same codebase.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544068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5440680" cy="3657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7452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📺 Gaze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31720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Segoe UI"/>
              </a:rPr>
              <a:t>Real-time control plane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88950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2743200"/>
            <a:ext cx="4434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Segoe UI"/>
              </a:rPr>
              <a:t>Start / stop as a detached subprocess.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602736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456432"/>
            <a:ext cx="4434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Segoe UI"/>
              </a:rPr>
              <a:t>Toggle detection · gaze · demographics.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4315968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4169664"/>
            <a:ext cx="4434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Segoe UI"/>
              </a:rPr>
              <a:t>Pick device — CPU / GPU / AUTO.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5029200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882896"/>
            <a:ext cx="4434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Segoe UI"/>
              </a:rPr>
              <a:t>Live KPIs, refreshed every 5 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1828800"/>
            <a:ext cx="544068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1828800"/>
            <a:ext cx="544068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187452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👁️ Gaze Insights</a:t>
            </a:r>
          </a:p>
        </p:txBody>
      </p:sp>
      <p:sp>
        <p:nvSpPr>
          <p:cNvPr id="25" name="Oval 24"/>
          <p:cNvSpPr/>
          <p:nvPr/>
        </p:nvSpPr>
        <p:spPr>
          <a:xfrm>
            <a:off x="6519672" y="252374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85432" y="2377440"/>
            <a:ext cx="4434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Segoe UI"/>
              </a:rPr>
              <a:t>Historical analytics</a:t>
            </a:r>
          </a:p>
        </p:txBody>
      </p:sp>
      <p:sp>
        <p:nvSpPr>
          <p:cNvPr id="27" name="Oval 26"/>
          <p:cNvSpPr/>
          <p:nvPr/>
        </p:nvSpPr>
        <p:spPr>
          <a:xfrm>
            <a:off x="6519672" y="3236976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5432" y="3090672"/>
            <a:ext cx="4434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Segoe UI"/>
              </a:rPr>
              <a:t>Impressions · attention time · dwell · rate.</a:t>
            </a:r>
          </a:p>
        </p:txBody>
      </p:sp>
      <p:sp>
        <p:nvSpPr>
          <p:cNvPr id="29" name="Oval 28"/>
          <p:cNvSpPr/>
          <p:nvPr/>
        </p:nvSpPr>
        <p:spPr>
          <a:xfrm>
            <a:off x="6519672" y="3950208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85432" y="3803904"/>
            <a:ext cx="4434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Segoe UI"/>
              </a:rPr>
              <a:t>Engagement trend — 5 s → 1 h auto-rebin.</a:t>
            </a:r>
          </a:p>
        </p:txBody>
      </p:sp>
      <p:sp>
        <p:nvSpPr>
          <p:cNvPr id="31" name="Oval 30"/>
          <p:cNvSpPr/>
          <p:nvPr/>
        </p:nvSpPr>
        <p:spPr>
          <a:xfrm>
            <a:off x="6519672" y="4663440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5432" y="4517136"/>
            <a:ext cx="4434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Segoe UI"/>
              </a:rPr>
              <a:t>Top content leaderboard with thumbnails.</a:t>
            </a:r>
          </a:p>
        </p:txBody>
      </p:sp>
      <p:sp>
        <p:nvSpPr>
          <p:cNvPr id="33" name="Oval 32"/>
          <p:cNvSpPr/>
          <p:nvPr/>
        </p:nvSpPr>
        <p:spPr>
          <a:xfrm>
            <a:off x="6519672" y="5376672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85432" y="5230368"/>
            <a:ext cx="4434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Segoe UI"/>
              </a:rPr>
              <a:t>Gender split — SQL aggregates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07040" y="365760"/>
            <a:ext cx="1051560" cy="329184"/>
          </a:xfrm>
          <a:prstGeom prst="roundRect">
            <a:avLst/>
          </a:prstGeom>
          <a:solidFill>
            <a:srgbClr val="0F1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06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60196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Segoe UI"/>
              </a:rPr>
              <a:t>GAZE ANALYTICS  ·  Privacy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601968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6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Segoe UI"/>
              </a:rPr>
              <a:t>What we measure.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Segoe UI"/>
              </a:rPr>
              <a:t>Every number below is aggregate SQL — zero per-person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7451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74519"/>
            <a:ext cx="365760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07568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IMPRESSIONS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42315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SUM viewers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24611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Audience-seconds delivered.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87451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874519"/>
            <a:ext cx="365760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07568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ATTENTION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42315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SUM attending × Δt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324611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Seconds actively looking.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87451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874519"/>
            <a:ext cx="365760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207568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AVG DWELL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242315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MEAN avg_dwell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324611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How long a viewer stays.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7763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977639"/>
            <a:ext cx="365760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17880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ATTENTION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52627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attending / viewers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534923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% converting look → focus.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397763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43400" y="3977639"/>
            <a:ext cx="365760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417880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PEAK CONCURRENT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9432" y="452627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MAX viewers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9432" y="534923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Biggest simultaneous audience.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97763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0" y="3977639"/>
            <a:ext cx="365760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94192" y="417880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GENDER SPLIT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52627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SUM(m / f)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534923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Aggregate tilt. No identities.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07040" y="365760"/>
            <a:ext cx="1051560" cy="329184"/>
          </a:xfrm>
          <a:prstGeom prst="roundRect">
            <a:avLst/>
          </a:prstGeom>
          <a:solidFill>
            <a:srgbClr val="0F1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07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60196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Segoe UI"/>
              </a:rPr>
              <a:t>GAZE ANALYTICS  ·  Privacy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601968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7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Segoe UI"/>
              </a:rPr>
              <a:t>Real-time budget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Segoe UI"/>
              </a:rPr>
              <a:t>Intel Core i7-1185G7 · Iris Xe iGPU · 720p input.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7451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74519"/>
            <a:ext cx="365760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07568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≥ 15 FPS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42315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End-to-end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24611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Capture → detect → track → gaze → sink.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87451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874519"/>
            <a:ext cx="365760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07568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&lt; 50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42315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Model footprint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324611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5 OMZ models · INT8 / FP16.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87451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874519"/>
            <a:ext cx="365760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207568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&lt; 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242315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Idle CPU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324611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Between inference passes.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7763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977639"/>
            <a:ext cx="365760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17880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~ 30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52627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Cold start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534923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First model compile is cached.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397763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43400" y="3977639"/>
            <a:ext cx="365760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417880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100 %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9432" y="452627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On-device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9432" y="534923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Zero cloud calls · zero telemetry.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97763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0" y="3977639"/>
            <a:ext cx="365760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94192" y="4178807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121 / 121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526279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Segoe UI"/>
              </a:rPr>
              <a:t>Tests 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5349239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Segoe UI"/>
              </a:rPr>
              <a:t>Privacy grep runs in CI.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07040" y="365760"/>
            <a:ext cx="1051560" cy="329184"/>
          </a:xfrm>
          <a:prstGeom prst="roundRect">
            <a:avLst/>
          </a:prstGeom>
          <a:solidFill>
            <a:srgbClr val="0F1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08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60196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Segoe UI"/>
              </a:rPr>
              <a:t>GAZE ANALYTICS  ·  Privacy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601968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8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Segoe UI"/>
              </a:rPr>
              <a:t>Where this goes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Segoe UI"/>
              </a:rPr>
              <a:t>Same privacy contract. Wider surface.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11091672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09728" cy="41605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24942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10312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🚀 Fleet federation.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48716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Aggregates from N screens. DP-noise on outbound counters.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343814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329184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🎯 Attention heatmaps.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7588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Saccade-level overlays on content thumbnails.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462686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48056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📺 DOOH integration.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86460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Programmatic ad platforms · IAB OpenRTB · measurable inventory.</a:t>
            </a:r>
          </a:p>
        </p:txBody>
      </p:sp>
      <p:sp>
        <p:nvSpPr>
          <p:cNvPr id="21" name="Oval 20"/>
          <p:cNvSpPr/>
          <p:nvPr/>
        </p:nvSpPr>
        <p:spPr>
          <a:xfrm>
            <a:off x="960120" y="581558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566928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🧠 Silicon expansion.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605332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Intel NPU · Arc dGPU · low-cost Movidius tier.</a:t>
            </a:r>
          </a:p>
        </p:txBody>
      </p:sp>
      <p:sp>
        <p:nvSpPr>
          <p:cNvPr id="24" name="Oval 23"/>
          <p:cNvSpPr/>
          <p:nvPr/>
        </p:nvSpPr>
        <p:spPr>
          <a:xfrm>
            <a:off x="960120" y="7004304"/>
            <a:ext cx="164592" cy="16459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6858000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🛡️ Certification.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724204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Segoe UI"/>
              </a:rPr>
              <a:t>GDPR · DPDP · BIPA · CPRA — grep-provable dossier.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North star: 10 000 screens instrumented · 0 frames ever leaving the device.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086100"/>
          </a:xfrm>
          <a:prstGeom prst="rect">
            <a:avLst/>
          </a:prstGeom>
          <a:solidFill>
            <a:srgbClr val="0F1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86100"/>
            <a:ext cx="12191695" cy="2743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29300"/>
            <a:ext cx="12191695" cy="10287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Segoe UI"/>
              </a:rPr>
              <a:t>Signage engagement,</a:t>
            </a:r>
          </a:p>
          <a:p>
            <a:pPr algn="l"/>
            <a:r>
              <a:rPr sz="4800" b="1">
                <a:solidFill>
                  <a:srgbClr val="FFFFFF"/>
                </a:solidFill>
                <a:latin typeface="Segoe UI"/>
              </a:rPr>
              <a:t>on-device, provably private.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0F2FE"/>
                </a:solidFill>
                <a:latin typeface="Segoe UI"/>
              </a:rPr>
              <a:t>Ready at the booth.  Repo · Demo · Team.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623560"/>
            <a:ext cx="2377440" cy="45720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